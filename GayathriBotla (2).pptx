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sldIdLst>
    <p:sldId id="256" r:id="rId3"/>
    <p:sldId id="257" r:id="rId4"/>
    <p:sldId id="258" r:id="rId5"/>
    <p:sldId id="259" r:id="rId6"/>
    <p:sldId id="260" r:id="rId7"/>
    <p:sldId id="261" r:id="rId8"/>
    <p:sldId id="263" r:id="rId9"/>
    <p:sldId id="262"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792" userDrawn="1">
          <p15:clr>
            <a:srgbClr val="A4A3A4"/>
          </p15:clr>
        </p15:guide>
        <p15:guide id="2" pos="192" userDrawn="1">
          <p15:clr>
            <a:srgbClr val="A4A3A4"/>
          </p15:clr>
        </p15:guide>
        <p15:guide id="3" orient="horz" pos="10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5" autoAdjust="0"/>
    <p:restoredTop sz="94660"/>
  </p:normalViewPr>
  <p:slideViewPr>
    <p:cSldViewPr snapToGrid="0" showGuides="1">
      <p:cViewPr varScale="1">
        <p:scale>
          <a:sx n="113" d="100"/>
          <a:sy n="113" d="100"/>
        </p:scale>
        <p:origin x="1096" y="488"/>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p:cNvPicPr preferRelativeResize="0"/>
          <p:nvPr/>
        </p:nvPicPr>
        <p:blipFill rotWithShape="1">
          <a:blip r:embed="rId5"/>
          <a:srcRect/>
          <a:stretch>
            <a:fillRect/>
          </a:stretch>
        </p:blipFill>
        <p:spPr>
          <a:xfrm>
            <a:off x="10072688" y="78002"/>
            <a:ext cx="1800225" cy="575514"/>
          </a:xfrm>
          <a:prstGeom prst="rect">
            <a:avLst/>
          </a:prstGeom>
          <a:noFill/>
          <a:ln>
            <a:noFill/>
          </a:ln>
        </p:spPr>
      </p:pic>
      <p:sp>
        <p:nvSpPr>
          <p:cNvPr id="15" name="Rectangle 14"/>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p:cNvPicPr>
            <a:picLocks noChangeAspect="1"/>
          </p:cNvPicPr>
          <p:nvPr/>
        </p:nvPicPr>
        <p:blipFill rotWithShape="1">
          <a:blip r:embed="rId6">
            <a:alphaModFix amt="16000"/>
          </a:blip>
          <a:srcRect t="24724" r="1619" b="63695"/>
          <a:stretch>
            <a:fillRect/>
          </a:stretch>
        </p:blipFill>
        <p:spPr>
          <a:xfrm>
            <a:off x="0" y="-1"/>
            <a:ext cx="9839325" cy="723901"/>
          </a:xfrm>
          <a:prstGeom prst="rect">
            <a:avLst/>
          </a:prstGeom>
        </p:spPr>
      </p:pic>
      <p:sp>
        <p:nvSpPr>
          <p:cNvPr id="2" name="Rectangle 1"/>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hyperlink" Target="https://www.freepik.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p:cNvPicPr>
            <a:picLocks noChangeAspect="1"/>
          </p:cNvPicPr>
          <p:nvPr/>
        </p:nvPicPr>
        <p:blipFill>
          <a:blip r:embed="rId1"/>
          <a:stretch>
            <a:fillRect/>
          </a:stretch>
        </p:blipFill>
        <p:spPr>
          <a:xfrm>
            <a:off x="0" y="0"/>
            <a:ext cx="12192000" cy="6858000"/>
          </a:xfrm>
          <a:prstGeom prst="rect">
            <a:avLst/>
          </a:prstGeom>
        </p:spPr>
      </p:pic>
      <p:sp>
        <p:nvSpPr>
          <p:cNvPr id="4" name="Rectangle: Rounded Corners 3"/>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4657725" y="3295650"/>
            <a:ext cx="6622415" cy="1332230"/>
          </a:xfrm>
          <a:prstGeom prst="rect">
            <a:avLst/>
          </a:prstGeom>
          <a:noFill/>
        </p:spPr>
        <p:txBody>
          <a:bodyPr wrap="square" rtlCol="0">
            <a:noAutofit/>
          </a:bodyPr>
          <a:lstStyle/>
          <a:p>
            <a:pPr algn="r"/>
            <a:r>
              <a:rPr lang="en-US" sz="3600" b="1" dirty="0">
                <a:solidFill>
                  <a:schemeClr val="bg1"/>
                </a:solidFill>
                <a:latin typeface="Calibri" panose="020F0502020204030204" pitchFamily="34" charset="0"/>
                <a:cs typeface="Times New Roman" panose="02020603050405020304" pitchFamily="18" charset="0"/>
              </a:rPr>
              <a:t>Plant Desease Detection System For Substainable Agriculture </a:t>
            </a:r>
            <a:r>
              <a:rPr lang="en-IN" sz="3600" b="1" dirty="0">
                <a:solidFill>
                  <a:schemeClr val="bg1"/>
                </a:solidFill>
                <a:latin typeface="Calibri" panose="020F0502020204030204" pitchFamily="34" charset="0"/>
                <a:cs typeface="Times New Roman" panose="02020603050405020304" pitchFamily="18" charset="0"/>
              </a:rPr>
              <a:t> </a:t>
            </a:r>
            <a:endParaRPr lang="en-US" sz="3600" b="1" dirty="0">
              <a:solidFill>
                <a:schemeClr val="bg1"/>
              </a:solidFill>
              <a:latin typeface="Arial" panose="020B0604020202020204" pitchFamily="34" charset="0"/>
              <a:cs typeface="Arial" panose="020B0604020202020204" pitchFamily="34" charset="0"/>
            </a:endParaRPr>
          </a:p>
        </p:txBody>
      </p:sp>
      <p:pic>
        <p:nvPicPr>
          <p:cNvPr id="7" name="Picture 6" descr="A close up of a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67419" y="868863"/>
            <a:ext cx="1263157" cy="4108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1770" y="972820"/>
            <a:ext cx="7153910" cy="5002530"/>
          </a:xfrm>
          <a:prstGeom prst="rect">
            <a:avLst/>
          </a:prstGeom>
          <a:noFill/>
        </p:spPr>
        <p:txBody>
          <a:bodyPr wrap="square">
            <a:noAutofit/>
          </a:bodyPr>
          <a:lstStyle/>
          <a:p>
            <a:r>
              <a:rPr lang="en-IN" sz="2000" b="1" dirty="0">
                <a:solidFill>
                  <a:srgbClr val="213163"/>
                </a:solidFill>
              </a:rPr>
              <a:t>Learning Objectives</a:t>
            </a:r>
            <a:endParaRPr lang="en-IN" sz="2000" b="1" dirty="0">
              <a:solidFill>
                <a:srgbClr val="213163"/>
              </a:solidFill>
            </a:endParaRPr>
          </a:p>
          <a:p>
            <a:endParaRPr lang="en-IN" sz="2000" dirty="0">
              <a:solidFill>
                <a:srgbClr val="213163"/>
              </a:solidFill>
            </a:endParaRPr>
          </a:p>
          <a:p>
            <a:r>
              <a:rPr lang="en-US" altLang="en-US" sz="2000" dirty="0">
                <a:solidFill>
                  <a:srgbClr val="213163"/>
                </a:solidFill>
              </a:rPr>
              <a:t>Understand the application of CNNs in image-based classification tasks.</a:t>
            </a:r>
            <a:endParaRPr lang="en-US" altLang="en-US" sz="2000" dirty="0">
              <a:solidFill>
                <a:srgbClr val="213163"/>
              </a:solidFill>
            </a:endParaRPr>
          </a:p>
          <a:p>
            <a:endParaRPr lang="en-US" altLang="en-US" sz="2000" dirty="0">
              <a:solidFill>
                <a:srgbClr val="213163"/>
              </a:solidFill>
            </a:endParaRPr>
          </a:p>
          <a:p>
            <a:r>
              <a:rPr lang="en-US" altLang="en-US" sz="2000" dirty="0">
                <a:solidFill>
                  <a:srgbClr val="213163"/>
                </a:solidFill>
              </a:rPr>
              <a:t>Learn how to preprocess image datasets and apply augmentation.</a:t>
            </a:r>
            <a:endParaRPr lang="en-US" altLang="en-US" sz="2000" dirty="0">
              <a:solidFill>
                <a:srgbClr val="213163"/>
              </a:solidFill>
            </a:endParaRPr>
          </a:p>
          <a:p>
            <a:endParaRPr lang="en-US" altLang="en-US" sz="2000" dirty="0">
              <a:solidFill>
                <a:srgbClr val="213163"/>
              </a:solidFill>
            </a:endParaRPr>
          </a:p>
          <a:p>
            <a:r>
              <a:rPr lang="en-US" altLang="en-US" sz="2000" dirty="0">
                <a:solidFill>
                  <a:srgbClr val="213163"/>
                </a:solidFill>
              </a:rPr>
              <a:t>Gain experience working with Google Colab and integrating Python scripts.</a:t>
            </a:r>
            <a:endParaRPr lang="en-US" altLang="en-US" sz="2000" dirty="0">
              <a:solidFill>
                <a:srgbClr val="213163"/>
              </a:solidFill>
            </a:endParaRPr>
          </a:p>
          <a:p>
            <a:endParaRPr lang="en-US" altLang="en-US" sz="2000" dirty="0">
              <a:solidFill>
                <a:srgbClr val="213163"/>
              </a:solidFill>
            </a:endParaRPr>
          </a:p>
          <a:p>
            <a:r>
              <a:rPr lang="en-US" altLang="en-US" sz="2000" dirty="0">
                <a:solidFill>
                  <a:srgbClr val="213163"/>
                </a:solidFill>
              </a:rPr>
              <a:t>Build a complete AI pipeline from data collection to real-world deployment.</a:t>
            </a:r>
            <a:endParaRPr lang="en-US" altLang="en-US" sz="2000" dirty="0">
              <a:solidFill>
                <a:srgbClr val="213163"/>
              </a:solidFill>
            </a:endParaRPr>
          </a:p>
          <a:p>
            <a:endParaRPr lang="en-US" altLang="en-US" sz="2000" dirty="0">
              <a:solidFill>
                <a:srgbClr val="213163"/>
              </a:solidFill>
            </a:endParaRPr>
          </a:p>
          <a:p>
            <a:r>
              <a:rPr lang="en-US" altLang="en-US" sz="2000" dirty="0">
                <a:solidFill>
                  <a:srgbClr val="213163"/>
                </a:solidFill>
              </a:rPr>
              <a:t>Understand the societal impact of AI in agriculture.</a:t>
            </a:r>
            <a:endParaRPr lang="en-US" altLang="en-US" sz="2000" dirty="0">
              <a:solidFill>
                <a:srgbClr val="213163"/>
              </a:solidFill>
            </a:endParaRPr>
          </a:p>
          <a:p>
            <a:endParaRPr lang="en-US" altLang="en-US" sz="2000" dirty="0">
              <a:solidFill>
                <a:srgbClr val="213163"/>
              </a:solidFill>
            </a:endParaRPr>
          </a:p>
          <a:p>
            <a:endParaRPr lang="en-US" altLang="en-US" sz="2000" dirty="0">
              <a:solidFill>
                <a:srgbClr val="213163"/>
              </a:solidFill>
            </a:endParaRPr>
          </a:p>
        </p:txBody>
      </p:sp>
      <p:sp>
        <p:nvSpPr>
          <p:cNvPr id="3" name="TextBox 2"/>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endParaRPr lang="en-IN" sz="1200" b="1" dirty="0">
              <a:latin typeface="+mn-lt"/>
            </a:endParaRPr>
          </a:p>
        </p:txBody>
      </p:sp>
      <p:sp>
        <p:nvSpPr>
          <p:cNvPr id="4" name="TextBox 3"/>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1"/>
              </a:rPr>
              <a:t>www.freepik.com/</a:t>
            </a:r>
            <a:endParaRPr lang="en-IN" sz="1200" dirty="0">
              <a:solidFill>
                <a:srgbClr val="0000FF"/>
              </a:solidFill>
              <a:latin typeface="+mn-lt"/>
            </a:endParaRPr>
          </a:p>
        </p:txBody>
      </p:sp>
      <p:cxnSp>
        <p:nvCxnSpPr>
          <p:cNvPr id="5" name="Straight Connector 4"/>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p:cNvPicPr>
            <a:picLocks noChangeAspect="1"/>
          </p:cNvPicPr>
          <p:nvPr/>
        </p:nvPicPr>
        <p:blipFill rotWithShape="1">
          <a:blip r:embed="rId2">
            <a:alphaModFix amt="85000"/>
          </a:blip>
          <a:srcRect l="13763" t="6135" r="13650"/>
          <a:stretch>
            <a:fillRect/>
          </a:stretch>
        </p:blipFill>
        <p:spPr>
          <a:xfrm>
            <a:off x="7345680" y="1442720"/>
            <a:ext cx="4500880" cy="4632960"/>
          </a:xfrm>
          <a:prstGeom prst="rect">
            <a:avLst/>
          </a:prstGeom>
        </p:spPr>
      </p:pic>
      <p:sp>
        <p:nvSpPr>
          <p:cNvPr id="7" name="TextBox 6"/>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endParaRPr lang="en-IN" sz="3500" b="1" dirty="0">
              <a:solidFill>
                <a:schemeClr val="tx1"/>
              </a:solidFill>
              <a:latin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52500" y="869315"/>
            <a:ext cx="9308465" cy="8365490"/>
          </a:xfrm>
          <a:prstGeom prst="rect">
            <a:avLst/>
          </a:prstGeom>
          <a:noFill/>
        </p:spPr>
        <p:txBody>
          <a:bodyPr wrap="square">
            <a:noAutofit/>
          </a:bodyPr>
          <a:lstStyle/>
          <a:p>
            <a:r>
              <a:rPr lang="en-US" sz="1800" b="1" dirty="0">
                <a:solidFill>
                  <a:srgbClr val="213163"/>
                </a:solidFill>
              </a:rPr>
              <a:t>T</a:t>
            </a:r>
            <a:r>
              <a:rPr lang="en-IN" sz="2000" b="1" dirty="0" err="1">
                <a:solidFill>
                  <a:srgbClr val="213163"/>
                </a:solidFill>
              </a:rPr>
              <a:t>ools</a:t>
            </a:r>
            <a:r>
              <a:rPr lang="en-IN" sz="2000" b="1" dirty="0">
                <a:solidFill>
                  <a:srgbClr val="213163"/>
                </a:solidFill>
              </a:rPr>
              <a:t> and Technology used </a:t>
            </a:r>
            <a:endParaRPr lang="en-IN" sz="2000" b="1" dirty="0">
              <a:solidFill>
                <a:srgbClr val="213163"/>
              </a:solidFill>
            </a:endParaRPr>
          </a:p>
          <a:p>
            <a:endParaRPr lang="en-IN" altLang="en-US" sz="2000" b="1" dirty="0">
              <a:solidFill>
                <a:srgbClr val="213163"/>
              </a:solidFill>
            </a:endParaRPr>
          </a:p>
          <a:p>
            <a:r>
              <a:rPr lang="en-US" altLang="en-US" sz="1800" b="1" dirty="0">
                <a:solidFill>
                  <a:srgbClr val="213163"/>
                </a:solidFill>
              </a:rPr>
              <a:t>Python</a:t>
            </a:r>
            <a:endParaRPr lang="en-US" altLang="en-US" sz="1800" b="1" dirty="0">
              <a:solidFill>
                <a:srgbClr val="213163"/>
              </a:solidFill>
            </a:endParaRPr>
          </a:p>
          <a:p>
            <a:endParaRPr lang="en-US" altLang="en-US" sz="1800" b="1" dirty="0">
              <a:solidFill>
                <a:srgbClr val="213163"/>
              </a:solidFill>
            </a:endParaRPr>
          </a:p>
          <a:p>
            <a:r>
              <a:rPr lang="en-US" altLang="en-US" sz="1800" b="1" dirty="0">
                <a:solidFill>
                  <a:srgbClr val="213163"/>
                </a:solidFill>
              </a:rPr>
              <a:t>Google Colab</a:t>
            </a:r>
            <a:endParaRPr lang="en-US" altLang="en-US" sz="1800" b="1" dirty="0">
              <a:solidFill>
                <a:srgbClr val="213163"/>
              </a:solidFill>
            </a:endParaRPr>
          </a:p>
          <a:p>
            <a:endParaRPr lang="en-US" altLang="en-US" sz="1800" b="1" dirty="0">
              <a:solidFill>
                <a:srgbClr val="213163"/>
              </a:solidFill>
            </a:endParaRPr>
          </a:p>
          <a:p>
            <a:r>
              <a:rPr lang="en-US" altLang="en-US" sz="1800" b="1" dirty="0">
                <a:solidFill>
                  <a:srgbClr val="213163"/>
                </a:solidFill>
              </a:rPr>
              <a:t>TensorFlow / Keras (for CNN model)</a:t>
            </a:r>
            <a:endParaRPr lang="en-US" altLang="en-US" sz="1800" b="1" dirty="0">
              <a:solidFill>
                <a:srgbClr val="213163"/>
              </a:solidFill>
            </a:endParaRPr>
          </a:p>
          <a:p>
            <a:endParaRPr lang="en-US" altLang="en-US" sz="1800" b="1" dirty="0">
              <a:solidFill>
                <a:srgbClr val="213163"/>
              </a:solidFill>
            </a:endParaRPr>
          </a:p>
          <a:p>
            <a:r>
              <a:rPr lang="en-US" altLang="en-US" sz="1800" b="1" dirty="0">
                <a:solidFill>
                  <a:srgbClr val="213163"/>
                </a:solidFill>
              </a:rPr>
              <a:t>OpenCV (for image processing)</a:t>
            </a:r>
            <a:endParaRPr lang="en-US" altLang="en-US" sz="1800" b="1" dirty="0">
              <a:solidFill>
                <a:srgbClr val="213163"/>
              </a:solidFill>
            </a:endParaRPr>
          </a:p>
          <a:p>
            <a:endParaRPr lang="en-US" altLang="en-US" sz="1800" b="1" dirty="0">
              <a:solidFill>
                <a:srgbClr val="213163"/>
              </a:solidFill>
            </a:endParaRPr>
          </a:p>
          <a:p>
            <a:r>
              <a:rPr lang="en-US" altLang="en-US" sz="1800" b="1" dirty="0">
                <a:solidFill>
                  <a:srgbClr val="213163"/>
                </a:solidFill>
              </a:rPr>
              <a:t>Google Drive (for dataset storage)</a:t>
            </a:r>
            <a:endParaRPr lang="en-US" altLang="en-US" sz="1800" b="1" dirty="0">
              <a:solidFill>
                <a:srgbClr val="213163"/>
              </a:solidFill>
            </a:endParaRPr>
          </a:p>
          <a:p>
            <a:endParaRPr lang="en-US" altLang="en-US" sz="1800" b="1" dirty="0">
              <a:solidFill>
                <a:srgbClr val="213163"/>
              </a:solidFill>
            </a:endParaRPr>
          </a:p>
          <a:p>
            <a:r>
              <a:rPr lang="en-US" altLang="en-US" sz="1800" b="1" dirty="0">
                <a:solidFill>
                  <a:srgbClr val="213163"/>
                </a:solidFill>
              </a:rPr>
              <a:t>Streamlit / Tkinter (for GUI - optional deployment)</a:t>
            </a:r>
            <a:endParaRPr lang="en-US" altLang="en-US" sz="1800" b="1" dirty="0">
              <a:solidFill>
                <a:srgbClr val="213163"/>
              </a:solidFill>
            </a:endParaRPr>
          </a:p>
          <a:p>
            <a:endParaRPr lang="en-US" altLang="en-US" sz="1800" b="1" dirty="0">
              <a:solidFill>
                <a:srgbClr val="213163"/>
              </a:solidFill>
            </a:endParaRPr>
          </a:p>
          <a:p>
            <a:r>
              <a:rPr lang="en-US" altLang="en-US" sz="1800" b="1" dirty="0">
                <a:solidFill>
                  <a:srgbClr val="213163"/>
                </a:solidFill>
              </a:rPr>
              <a:t>PlantVillage Dataset (or similar dataset)</a:t>
            </a:r>
            <a:endParaRPr lang="en-US" altLang="en-US" sz="1800" b="1" dirty="0">
              <a:solidFill>
                <a:srgbClr val="213163"/>
              </a:solidFill>
            </a:endParaRPr>
          </a:p>
          <a:p>
            <a:endParaRPr lang="en-US" altLang="en-US" sz="1800" b="1" dirty="0">
              <a:solidFill>
                <a:srgbClr val="213163"/>
              </a:solidFill>
            </a:endParaRPr>
          </a:p>
          <a:p>
            <a:endParaRPr lang="en-US" altLang="en-US" sz="1800" b="1" dirty="0">
              <a:solidFill>
                <a:srgbClr val="213163"/>
              </a:solidFill>
            </a:endParaRPr>
          </a:p>
          <a:p>
            <a:endParaRPr lang="en-IN" sz="1800" b="1" dirty="0">
              <a:solidFill>
                <a:srgbClr val="213163"/>
              </a:solidFill>
            </a:endParaRP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68605" y="1014730"/>
            <a:ext cx="11005820" cy="4584700"/>
          </a:xfrm>
          <a:prstGeom prst="rect">
            <a:avLst/>
          </a:prstGeom>
          <a:noFill/>
        </p:spPr>
        <p:txBody>
          <a:bodyPr wrap="square">
            <a:spAutoFit/>
          </a:bodyPr>
          <a:lstStyle/>
          <a:p>
            <a:r>
              <a:rPr lang="en-US" sz="2000" b="1" dirty="0">
                <a:solidFill>
                  <a:srgbClr val="213163"/>
                </a:solidFill>
              </a:rPr>
              <a:t>Methodology</a:t>
            </a:r>
            <a:endParaRPr lang="en-US" sz="2000" b="1" dirty="0">
              <a:solidFill>
                <a:srgbClr val="213163"/>
              </a:solidFill>
            </a:endParaRPr>
          </a:p>
          <a:p>
            <a:endParaRPr lang="en-US" sz="2000" b="1" dirty="0">
              <a:solidFill>
                <a:srgbClr val="213163"/>
              </a:solidFill>
            </a:endParaRPr>
          </a:p>
          <a:p>
            <a:r>
              <a:rPr lang="en-US" altLang="en-US" sz="1800" b="1" dirty="0">
                <a:solidFill>
                  <a:srgbClr val="213163"/>
                </a:solidFill>
              </a:rPr>
              <a:t>Data Collection &amp; Organization – Curated leaf images for different crops and diseases.</a:t>
            </a:r>
            <a:endParaRPr lang="en-US" altLang="en-US" sz="1800" b="1" dirty="0">
              <a:solidFill>
                <a:srgbClr val="213163"/>
              </a:solidFill>
            </a:endParaRPr>
          </a:p>
          <a:p>
            <a:endParaRPr lang="en-US" altLang="en-US" sz="1800" b="1" dirty="0">
              <a:solidFill>
                <a:srgbClr val="213163"/>
              </a:solidFill>
            </a:endParaRPr>
          </a:p>
          <a:p>
            <a:r>
              <a:rPr lang="en-US" altLang="en-US" sz="1800" b="1" dirty="0">
                <a:solidFill>
                  <a:srgbClr val="213163"/>
                </a:solidFill>
              </a:rPr>
              <a:t>Uploading Dataset – Used Google Drive and Colab for seamless access and training.</a:t>
            </a:r>
            <a:endParaRPr lang="en-US" altLang="en-US" sz="1800" b="1" dirty="0">
              <a:solidFill>
                <a:srgbClr val="213163"/>
              </a:solidFill>
            </a:endParaRPr>
          </a:p>
          <a:p>
            <a:endParaRPr lang="en-US" altLang="en-US" sz="1800" b="1" dirty="0">
              <a:solidFill>
                <a:srgbClr val="213163"/>
              </a:solidFill>
            </a:endParaRPr>
          </a:p>
          <a:p>
            <a:r>
              <a:rPr lang="en-US" altLang="en-US" sz="1800" b="1" dirty="0">
                <a:solidFill>
                  <a:srgbClr val="213163"/>
                </a:solidFill>
              </a:rPr>
              <a:t>Image Preprocessing &amp; Augmentation – Resized, normalized, and augmented images for better generalization.</a:t>
            </a:r>
            <a:endParaRPr lang="en-US" altLang="en-US" sz="1800" b="1" dirty="0">
              <a:solidFill>
                <a:srgbClr val="213163"/>
              </a:solidFill>
            </a:endParaRPr>
          </a:p>
          <a:p>
            <a:endParaRPr lang="en-US" altLang="en-US" sz="1800" b="1" dirty="0">
              <a:solidFill>
                <a:srgbClr val="213163"/>
              </a:solidFill>
            </a:endParaRPr>
          </a:p>
          <a:p>
            <a:r>
              <a:rPr lang="en-US" altLang="en-US" sz="1800" b="1" dirty="0">
                <a:solidFill>
                  <a:srgbClr val="213163"/>
                </a:solidFill>
              </a:rPr>
              <a:t>CNN Model Development – Built a deep learning model tailored for plant disease classification.</a:t>
            </a:r>
            <a:endParaRPr lang="en-US" altLang="en-US" sz="1800" b="1" dirty="0">
              <a:solidFill>
                <a:srgbClr val="213163"/>
              </a:solidFill>
            </a:endParaRPr>
          </a:p>
          <a:p>
            <a:endParaRPr lang="en-US" altLang="en-US" sz="1800" b="1" dirty="0">
              <a:solidFill>
                <a:srgbClr val="213163"/>
              </a:solidFill>
            </a:endParaRPr>
          </a:p>
          <a:p>
            <a:r>
              <a:rPr lang="en-US" altLang="en-US" sz="1800" b="1" dirty="0">
                <a:solidFill>
                  <a:srgbClr val="213163"/>
                </a:solidFill>
              </a:rPr>
              <a:t>Model Evaluation – Tested on unseen data to ensure accuracy and robustness.</a:t>
            </a:r>
            <a:endParaRPr lang="en-US" altLang="en-US" sz="1800" b="1" dirty="0">
              <a:solidFill>
                <a:srgbClr val="213163"/>
              </a:solidFill>
            </a:endParaRPr>
          </a:p>
          <a:p>
            <a:endParaRPr lang="en-US" altLang="en-US" sz="1800" b="1" dirty="0">
              <a:solidFill>
                <a:srgbClr val="213163"/>
              </a:solidFill>
            </a:endParaRPr>
          </a:p>
          <a:p>
            <a:r>
              <a:rPr lang="en-US" altLang="en-US" sz="1800" b="1" dirty="0">
                <a:solidFill>
                  <a:srgbClr val="213163"/>
                </a:solidFill>
              </a:rPr>
              <a:t>Deployment – Developed a user-friendly interface for farmers to interact with the model.</a:t>
            </a:r>
            <a:endParaRPr lang="en-US" altLang="en-US" sz="1800" b="1" dirty="0">
              <a:solidFill>
                <a:srgbClr val="213163"/>
              </a:solidFill>
            </a:endParaRPr>
          </a:p>
          <a:p>
            <a:endParaRPr lang="en-US" altLang="en-US" sz="1800" b="1" dirty="0">
              <a:solidFill>
                <a:srgbClr val="213163"/>
              </a:solidFill>
            </a:endParaRPr>
          </a:p>
          <a:p>
            <a:r>
              <a:rPr lang="en-US" sz="1800" b="1" dirty="0">
                <a:solidFill>
                  <a:srgbClr val="213163"/>
                </a:solidFill>
              </a:rPr>
              <a:t> </a:t>
            </a:r>
            <a:endParaRPr lang="en-IN" sz="1800" dirty="0">
              <a:solidFill>
                <a:srgbClr val="21316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270" y="1054100"/>
            <a:ext cx="10510520" cy="5139055"/>
          </a:xfrm>
          <a:prstGeom prst="rect">
            <a:avLst/>
          </a:prstGeom>
          <a:noFill/>
        </p:spPr>
        <p:txBody>
          <a:bodyPr wrap="square">
            <a:spAutoFit/>
          </a:bodyPr>
          <a:lstStyle/>
          <a:p>
            <a:r>
              <a:rPr lang="en-US" sz="2000" b="1" dirty="0">
                <a:solidFill>
                  <a:srgbClr val="213163"/>
                </a:solidFill>
              </a:rPr>
              <a:t>Problem Statement:</a:t>
            </a:r>
            <a:endParaRPr lang="en-US" sz="2000" b="1" dirty="0">
              <a:solidFill>
                <a:srgbClr val="213163"/>
              </a:solidFill>
            </a:endParaRPr>
          </a:p>
          <a:p>
            <a:endParaRPr lang="en-US" sz="2000" b="1" dirty="0">
              <a:solidFill>
                <a:srgbClr val="213163"/>
              </a:solidFill>
            </a:endParaRPr>
          </a:p>
          <a:p>
            <a:r>
              <a:rPr lang="en-US" altLang="en-US" sz="1800" b="1" dirty="0">
                <a:solidFill>
                  <a:srgbClr val="213163"/>
                </a:solidFill>
              </a:rPr>
              <a:t>In agriculture, plant diseases can cause major damage to crops, leading to reduced yields and economic losses for farmers. Identifying these diseases early is critical—but the traditional method of manual inspection is often slow, inaccurate, and not accessible to everyone, especially in rural areas.</a:t>
            </a:r>
            <a:endParaRPr lang="en-US" altLang="en-US" sz="1800" b="1" dirty="0">
              <a:solidFill>
                <a:srgbClr val="213163"/>
              </a:solidFill>
            </a:endParaRPr>
          </a:p>
          <a:p>
            <a:endParaRPr lang="en-US" altLang="en-US" sz="1800" b="1" dirty="0">
              <a:solidFill>
                <a:srgbClr val="213163"/>
              </a:solidFill>
            </a:endParaRPr>
          </a:p>
          <a:p>
            <a:r>
              <a:rPr lang="en-US" altLang="en-US" sz="1800" b="1" dirty="0">
                <a:solidFill>
                  <a:srgbClr val="213163"/>
                </a:solidFill>
              </a:rPr>
              <a:t>With the rise of affordable smartphones and advancements in artificial intelligence, there’s a great opportunity to make disease detection faster, easier, and more accurate. Our goal is to develop a Plant Disease Detection System that uses deep learning and image processing to automatically identify plant diseases from leaf images.</a:t>
            </a:r>
            <a:endParaRPr lang="en-US" altLang="en-US" sz="1800" b="1" dirty="0">
              <a:solidFill>
                <a:srgbClr val="213163"/>
              </a:solidFill>
            </a:endParaRPr>
          </a:p>
          <a:p>
            <a:endParaRPr lang="en-US" altLang="en-US" sz="1800" b="1" dirty="0">
              <a:solidFill>
                <a:srgbClr val="213163"/>
              </a:solidFill>
            </a:endParaRPr>
          </a:p>
          <a:p>
            <a:r>
              <a:rPr lang="en-US" altLang="en-US" sz="1800" b="1" dirty="0">
                <a:solidFill>
                  <a:srgbClr val="213163"/>
                </a:solidFill>
              </a:rPr>
              <a:t>This system will allow farmers to simply take a photo of a leaf and instantly know whether the plant is healthy or affected by a disease. By making early detection easier and more accessible, we aim to support smarter farming decisions, reduce unnecessary pesticide use, and promote sustainable agriculture.</a:t>
            </a:r>
            <a:endParaRPr lang="en-US" altLang="en-US" sz="1800" b="1" dirty="0">
              <a:solidFill>
                <a:srgbClr val="213163"/>
              </a:solidFill>
            </a:endParaRPr>
          </a:p>
          <a:p>
            <a:endParaRPr lang="en-US" altLang="en-US" sz="1800" b="1" dirty="0">
              <a:solidFill>
                <a:srgbClr val="213163"/>
              </a:solidFill>
            </a:endParaRPr>
          </a:p>
          <a:p>
            <a:r>
              <a:rPr lang="en-US" sz="1800" b="1" dirty="0">
                <a:solidFill>
                  <a:srgbClr val="213163"/>
                </a:solidFill>
              </a:rPr>
              <a:t>  </a:t>
            </a:r>
            <a:endParaRPr lang="en-IN" sz="1800" b="1" dirty="0">
              <a:solidFill>
                <a:srgbClr val="21316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270" y="1282065"/>
            <a:ext cx="10133330" cy="4032250"/>
          </a:xfrm>
          <a:prstGeom prst="rect">
            <a:avLst/>
          </a:prstGeom>
          <a:noFill/>
        </p:spPr>
        <p:txBody>
          <a:bodyPr wrap="square">
            <a:noAutofit/>
          </a:bodyPr>
          <a:lstStyle/>
          <a:p>
            <a:r>
              <a:rPr lang="en-US" sz="2000" b="1" dirty="0">
                <a:solidFill>
                  <a:srgbClr val="213163"/>
                </a:solidFill>
              </a:rPr>
              <a:t>Solution: </a:t>
            </a:r>
            <a:endParaRPr lang="en-US" sz="2000" b="1" dirty="0">
              <a:solidFill>
                <a:srgbClr val="213163"/>
              </a:solidFill>
            </a:endParaRPr>
          </a:p>
          <a:p>
            <a:endParaRPr lang="en-US" sz="2000" b="1" dirty="0">
              <a:solidFill>
                <a:srgbClr val="213163"/>
              </a:solidFill>
            </a:endParaRPr>
          </a:p>
          <a:p>
            <a:r>
              <a:rPr lang="en-US" altLang="en-US" sz="1800" b="1" dirty="0">
                <a:solidFill>
                  <a:srgbClr val="213163"/>
                </a:solidFill>
              </a:rPr>
              <a:t>Our solution is a deep learning–based mobile-compatible system that can detect plant diseases from leaf images with high accuracy. The user uploads an image of a leaf, and the system processes the image to predict if the plant is healthy or infected, and specifies the type of disease if present.</a:t>
            </a:r>
            <a:endParaRPr lang="en-US" altLang="en-US" sz="1800" b="1" dirty="0">
              <a:solidFill>
                <a:srgbClr val="213163"/>
              </a:solidFill>
            </a:endParaRPr>
          </a:p>
          <a:p>
            <a:endParaRPr lang="en-US" altLang="en-US" sz="1800" b="1" dirty="0">
              <a:solidFill>
                <a:srgbClr val="213163"/>
              </a:solidFill>
            </a:endParaRPr>
          </a:p>
          <a:p>
            <a:r>
              <a:rPr lang="en-US" altLang="en-US" sz="1800" b="1" dirty="0">
                <a:solidFill>
                  <a:srgbClr val="213163"/>
                </a:solidFill>
              </a:rPr>
              <a:t>This solution leverages Convolutional Neural Networks (CNNs) for robust image classification. It is designed to work on smartphones and desktop platforms using a Python-based interface for ease of use, particularly for farmers and agricultural professionals.</a:t>
            </a:r>
            <a:r>
              <a:rPr lang="en-US" sz="1800" b="1" dirty="0">
                <a:solidFill>
                  <a:srgbClr val="213163"/>
                </a:solidFill>
              </a:rPr>
              <a:t> </a:t>
            </a:r>
            <a:endParaRPr lang="en-IN" sz="1800" b="1" dirty="0">
              <a:solidFill>
                <a:srgbClr val="213163"/>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104" y="1054412"/>
            <a:ext cx="6102626" cy="1630045"/>
          </a:xfrm>
          <a:prstGeom prst="rect">
            <a:avLst/>
          </a:prstGeom>
          <a:noFill/>
        </p:spPr>
        <p:txBody>
          <a:bodyPr wrap="square">
            <a:spAutoFit/>
          </a:bodyPr>
          <a:lstStyle/>
          <a:p>
            <a:r>
              <a:rPr lang="en-US" sz="2000" b="1" dirty="0">
                <a:solidFill>
                  <a:srgbClr val="213163"/>
                </a:solidFill>
              </a:rPr>
              <a:t>Screenshot of Output: </a:t>
            </a:r>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endParaRPr lang="en-US" sz="2000" b="1" dirty="0">
              <a:solidFill>
                <a:srgbClr val="213163"/>
              </a:solidFill>
            </a:endParaRPr>
          </a:p>
          <a:p>
            <a:r>
              <a:rPr lang="en-US" sz="2000" b="1" dirty="0">
                <a:solidFill>
                  <a:srgbClr val="213163"/>
                </a:solidFill>
              </a:rPr>
              <a:t> </a:t>
            </a:r>
            <a:endParaRPr lang="en-IN" sz="2000" b="1" dirty="0">
              <a:solidFill>
                <a:srgbClr val="213163"/>
              </a:solidFill>
            </a:endParaRPr>
          </a:p>
        </p:txBody>
      </p:sp>
      <p:pic>
        <p:nvPicPr>
          <p:cNvPr id="2" name="Picture 1"/>
          <p:cNvPicPr>
            <a:picLocks noChangeAspect="1"/>
          </p:cNvPicPr>
          <p:nvPr/>
        </p:nvPicPr>
        <p:blipFill>
          <a:blip r:embed="rId1"/>
          <a:stretch>
            <a:fillRect/>
          </a:stretch>
        </p:blipFill>
        <p:spPr>
          <a:xfrm>
            <a:off x="6096635" y="1830705"/>
            <a:ext cx="5478780" cy="2227580"/>
          </a:xfrm>
          <a:prstGeom prst="rect">
            <a:avLst/>
          </a:prstGeom>
        </p:spPr>
      </p:pic>
      <p:pic>
        <p:nvPicPr>
          <p:cNvPr id="4" name="Picture 3" descr="Screenshot 2025-05-15 141900"/>
          <p:cNvPicPr>
            <a:picLocks noChangeAspect="1"/>
          </p:cNvPicPr>
          <p:nvPr/>
        </p:nvPicPr>
        <p:blipFill>
          <a:blip r:embed="rId2"/>
          <a:stretch>
            <a:fillRect/>
          </a:stretch>
        </p:blipFill>
        <p:spPr>
          <a:xfrm>
            <a:off x="574675" y="1830705"/>
            <a:ext cx="5128260" cy="2297430"/>
          </a:xfrm>
          <a:prstGeom prst="rect">
            <a:avLst/>
          </a:prstGeom>
        </p:spPr>
      </p:pic>
      <p:pic>
        <p:nvPicPr>
          <p:cNvPr id="5" name="Picture 4" descr="Screenshot 2025-05-15 142027"/>
          <p:cNvPicPr>
            <a:picLocks noChangeAspect="1"/>
          </p:cNvPicPr>
          <p:nvPr/>
        </p:nvPicPr>
        <p:blipFill>
          <a:blip r:embed="rId3"/>
          <a:stretch>
            <a:fillRect/>
          </a:stretch>
        </p:blipFill>
        <p:spPr>
          <a:xfrm>
            <a:off x="574675" y="4255770"/>
            <a:ext cx="5128895" cy="2306955"/>
          </a:xfrm>
          <a:prstGeom prst="rect">
            <a:avLst/>
          </a:prstGeom>
        </p:spPr>
      </p:pic>
      <p:pic>
        <p:nvPicPr>
          <p:cNvPr id="6" name="Picture 5" descr="Screenshot 2025-05-15 142101"/>
          <p:cNvPicPr>
            <a:picLocks noChangeAspect="1"/>
          </p:cNvPicPr>
          <p:nvPr/>
        </p:nvPicPr>
        <p:blipFill>
          <a:blip r:embed="rId1"/>
          <a:stretch>
            <a:fillRect/>
          </a:stretch>
        </p:blipFill>
        <p:spPr>
          <a:xfrm>
            <a:off x="6096635" y="4255770"/>
            <a:ext cx="5479415" cy="23069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9225" y="1861185"/>
            <a:ext cx="10699115" cy="2734310"/>
          </a:xfrm>
          <a:prstGeom prst="rect">
            <a:avLst/>
          </a:prstGeom>
          <a:noFill/>
        </p:spPr>
        <p:txBody>
          <a:bodyPr wrap="square">
            <a:noAutofit/>
          </a:bodyPr>
          <a:lstStyle/>
          <a:p>
            <a:r>
              <a:rPr lang="en-US" sz="2000" b="1" dirty="0">
                <a:solidFill>
                  <a:srgbClr val="213163"/>
                </a:solidFill>
              </a:rPr>
              <a:t>Conclusion:</a:t>
            </a:r>
            <a:r>
              <a:rPr lang="en-US" sz="1800" b="1" dirty="0">
                <a:solidFill>
                  <a:srgbClr val="213163"/>
                </a:solidFill>
              </a:rPr>
              <a:t> </a:t>
            </a:r>
            <a:endParaRPr lang="en-US" sz="1800" b="1" dirty="0">
              <a:solidFill>
                <a:srgbClr val="213163"/>
              </a:solidFill>
            </a:endParaRPr>
          </a:p>
          <a:p>
            <a:endParaRPr lang="en-US" sz="1800" b="1" dirty="0">
              <a:solidFill>
                <a:srgbClr val="213163"/>
              </a:solidFill>
            </a:endParaRPr>
          </a:p>
          <a:p>
            <a:r>
              <a:rPr lang="en-US" altLang="en-US" sz="1800" b="1" dirty="0">
                <a:solidFill>
                  <a:srgbClr val="213163"/>
                </a:solidFill>
              </a:rPr>
              <a:t>Our Plant Disease Detection System shows that AI can be a powerful tool in agriculture. By accurately diagnosing plant diseases from leaf images, the model assists farmers in taking timely action. It reduces reliance on manual inspection, promotes sustainability, and ensures better crop yield. The success of this project demonstrates how technology can be effectively used to solve real-world problems and support rural communities.</a:t>
            </a:r>
            <a:endParaRPr lang="en-US" altLang="en-US" sz="1800" b="1" dirty="0">
              <a:solidFill>
                <a:srgbClr val="213163"/>
              </a:solidFill>
            </a:endParaRPr>
          </a:p>
          <a:p>
            <a:endParaRPr lang="en-US" altLang="en-US" sz="1800" b="1" dirty="0">
              <a:solidFill>
                <a:srgbClr val="213163"/>
              </a:solidFill>
            </a:endParaRPr>
          </a:p>
          <a:p>
            <a:r>
              <a:rPr lang="en-US" sz="1800" b="1" dirty="0">
                <a:solidFill>
                  <a:srgbClr val="213163"/>
                </a:solidFill>
              </a:rPr>
              <a:t> </a:t>
            </a:r>
            <a:endParaRPr lang="en-IN" sz="1800" dirty="0">
              <a:solidFill>
                <a:srgbClr val="213163"/>
              </a:solidFill>
            </a:endParaRPr>
          </a:p>
        </p:txBody>
      </p:sp>
    </p:spTree>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0</TotalTime>
  <Words>3212</Words>
  <Application>WPS Slides</Application>
  <PresentationFormat>Widescreen</PresentationFormat>
  <Paragraphs>96</Paragraphs>
  <Slides>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vt:i4>
      </vt:variant>
    </vt:vector>
  </HeadingPairs>
  <TitlesOfParts>
    <vt:vector size="17" baseType="lpstr">
      <vt:lpstr>Arial</vt:lpstr>
      <vt:lpstr>SimSun</vt:lpstr>
      <vt:lpstr>Wingdings</vt:lpstr>
      <vt:lpstr>Arial</vt:lpstr>
      <vt:lpstr>Calibri</vt:lpstr>
      <vt:lpstr>Times New Roman</vt:lpstr>
      <vt:lpstr>Microsoft YaHei</vt:lpstr>
      <vt:lpstr>Arial Unicode MS</vt:lpstr>
      <vt:lpstr>Session 01 Design Thinking &amp; Critical Thinking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teja rowdy</cp:lastModifiedBy>
  <cp:revision>6</cp:revision>
  <dcterms:created xsi:type="dcterms:W3CDTF">2024-12-31T09:40:00Z</dcterms:created>
  <dcterms:modified xsi:type="dcterms:W3CDTF">2025-05-15T09:01:33Z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E35B031C7E284345B6F808CC39BDE56E_13</vt:lpwstr>
  </property>
  <property fmtid="{D5CDD505-2E9C-101B-9397-08002B2CF9AE}" pid="3" name="KSOProductBuildVer">
    <vt:lpwstr>1033-12.2.0.20795</vt:lpwstr>
  </property>
</Properties>
</file>